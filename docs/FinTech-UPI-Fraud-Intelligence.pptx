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Libre Franklin Light"/>
      <p:regular r:id="rId201314"/>
    </p:embeddedFont>
    <p:embeddedFont>
      <p:font typeface="Libre Franklin Bold"/>
      <p:regular r:id="rId201315"/>
    </p:embeddedFont>
    <p:embeddedFont>
      <p:font typeface="Libre Franklin"/>
      <p:regular r:id="rId201316"/>
    </p:embeddedFont>
    <p:embeddedFont>
      <p:font typeface="Libre Franklin Medium"/>
      <p:regular r:id="rId201317"/>
    </p:embeddedFont>
    <p:embeddedFont>
      <p:font typeface="Libre Franklin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0" dirty="0">
                <a:solidFill>
                  <a:srgbClr val="5F68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AgentIQ Datathon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09585" y="2879229"/>
            <a:ext cx="609585" cy="25400"/>
          </a:xfrm>
          <a:prstGeom prst="roundRect">
            <a:avLst>
              <a:gd name="adj" fmla="val 49999"/>
            </a:avLst>
          </a:prstGeom>
          <a:solidFill>
            <a:srgbClr val="1F6A85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342878"/>
            <a:ext cx="5821614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171C2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FinTech UPI Fraud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4683919"/>
            <a:ext cx="582161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Track 1: AgentIQ Datathon Submission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5163344"/>
            <a:ext cx="64311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0" dirty="0">
                <a:solidFill>
                  <a:srgbClr val="5F68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Presenter: Zaaki Mohammed &amp; Team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585" y="5572919"/>
            <a:ext cx="5821614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Moving beyond isolated fraud to detect organized criminal networks.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30" kern="0" dirty="0">
                <a:solidFill>
                  <a:srgbClr val="171C2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Engineering the Foundation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1087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D3D8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108523"/>
            <a:ext cx="2979365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0" dirty="0">
                <a:solidFill>
                  <a:srgbClr val="171C22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20,000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4148832"/>
            <a:ext cx="358895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Raw UPI transactions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509492"/>
            <a:ext cx="358895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12" kern="0" dirty="0">
                <a:solidFill>
                  <a:srgbClr val="5F6873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5-way join · 100% preserved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46039" y="2398514"/>
            <a:ext cx="927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046039" y="2759075"/>
            <a:ext cx="3615540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9" name="Text 7"/>
          <p:cNvSpPr/>
          <p:nvPr/>
        </p:nvSpPr>
        <p:spPr>
          <a:xfrm>
            <a:off x="4046039" y="2906415"/>
            <a:ext cx="361563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Processed 20,000 raw UPI transactions.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66471" y="2398514"/>
            <a:ext cx="9647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66471" y="2759075"/>
            <a:ext cx="3615540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2" name="Text 10"/>
          <p:cNvSpPr/>
          <p:nvPr/>
        </p:nvSpPr>
        <p:spPr>
          <a:xfrm>
            <a:off x="7966471" y="2906415"/>
            <a:ext cx="361563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Utilized Pandas and Regex to clean and normalize mismatched user and merchant IDs.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46039" y="4064595"/>
            <a:ext cx="9775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046039" y="4425156"/>
            <a:ext cx="3615540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5" name="Text 13"/>
          <p:cNvSpPr/>
          <p:nvPr/>
        </p:nvSpPr>
        <p:spPr>
          <a:xfrm>
            <a:off x="4046039" y="4572496"/>
            <a:ext cx="361563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Executed a flawless 5-way join across all datasets (KYC, Merchants, Chargebacks).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66471" y="4064595"/>
            <a:ext cx="97866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966471" y="4425156"/>
            <a:ext cx="3615540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8" name="Text 16"/>
          <p:cNvSpPr/>
          <p:nvPr/>
        </p:nvSpPr>
        <p:spPr>
          <a:xfrm>
            <a:off x="7966471" y="4572496"/>
            <a:ext cx="361563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Achieved 100% data preservation without recklessly dropping missing rows.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98372" y="6455370"/>
            <a:ext cx="69332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30" kern="0" dirty="0">
                <a:solidFill>
                  <a:srgbClr val="171C2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Uncovering the Hidden Networks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1087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D3D8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89473"/>
            <a:ext cx="3454314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0" dirty="0">
                <a:solidFill>
                  <a:srgbClr val="171C22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203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4129782"/>
            <a:ext cx="406389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Merchant Collusion Rings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528542"/>
            <a:ext cx="40638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12" kern="0" dirty="0">
                <a:solidFill>
                  <a:srgbClr val="5F6873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Identical bank settlement accounts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70288" y="3089473"/>
            <a:ext cx="3251119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28" kern="0" dirty="0">
                <a:solidFill>
                  <a:srgbClr val="171C22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1,340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470288" y="4129782"/>
            <a:ext cx="386070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Synthetic Identity Clusters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0288" y="4528542"/>
            <a:ext cx="386070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12" kern="0" dirty="0">
                <a:solidFill>
                  <a:srgbClr val="5F6873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The exact same PAN credentials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27797" y="2318445"/>
            <a:ext cx="3454314" cy="318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Standard SQL queries miss organized fraud. We used NetworkX.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Modeled the ecosystem as a bipartite graph (Users -&gt; Merchants).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Discovered 203 Merchant Collusion Rings sharing identical bank settlement accounts.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Uncovered 1,340 Synthetic Identity Clusters operating under the exact same PAN credentials.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60743" y="1575991"/>
            <a:ext cx="12700" cy="4672409"/>
          </a:xfrm>
          <a:prstGeom prst="rect">
            <a:avLst/>
          </a:prstGeom>
          <a:solidFill>
            <a:srgbClr val="D3D8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918252" y="1575991"/>
            <a:ext cx="12700" cy="4672409"/>
          </a:xfrm>
          <a:prstGeom prst="rect">
            <a:avLst/>
          </a:prstGeom>
          <a:solidFill>
            <a:srgbClr val="D3D8D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2518" y="6455370"/>
            <a:ext cx="6991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30" kern="0" dirty="0">
                <a:solidFill>
                  <a:srgbClr val="171C2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The Risk Policy Simulator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1087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D3D8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759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Moving beyond static charts to actionable risk mitigation.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063651"/>
            <a:ext cx="5333867" cy="4184749"/>
          </a:xfrm>
          <a:prstGeom prst="roundRect">
            <a:avLst>
              <a:gd name="adj" fmla="val 273"/>
            </a:avLst>
          </a:prstGeom>
          <a:solidFill>
            <a:srgbClr val="F3F5F7"/>
          </a:solidFill>
          <a:ln w="25399">
            <a:solidFill>
              <a:srgbClr val="BCD3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317651"/>
            <a:ext cx="482587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A424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Risk Policy Simulator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2828826"/>
            <a:ext cx="543546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Built in custom HTML/JS.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3578" y="3548955"/>
            <a:ext cx="48258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Executives instantly balance fraud prevention against false-positive customer friction.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4865191"/>
            <a:ext cx="4825879" cy="112920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48244" y="2063651"/>
            <a:ext cx="5333867" cy="4184749"/>
          </a:xfrm>
          <a:prstGeom prst="roundRect">
            <a:avLst>
              <a:gd name="adj" fmla="val 273"/>
            </a:avLst>
          </a:prstGeom>
          <a:noFill/>
          <a:ln w="25399">
            <a:solidFill>
              <a:srgbClr val="BCD3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2237" y="2317651"/>
            <a:ext cx="482587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2237" y="2828826"/>
            <a:ext cx="543546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0" dirty="0">
                <a:solidFill>
                  <a:srgbClr val="5F68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Enterprise analyst reporting.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02237" y="3548955"/>
            <a:ext cx="48258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fully integrated Power BI dashboard drives deep-dive analyst reporting.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37" y="4865191"/>
            <a:ext cx="4825879" cy="112920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91427" y="6455370"/>
            <a:ext cx="70026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30" kern="0" dirty="0">
                <a:solidFill>
                  <a:srgbClr val="171C2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Securing the 30-Point AI Bonus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1087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D3D8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75991"/>
            <a:ext cx="927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585" y="1936552"/>
            <a:ext cx="2514537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083891"/>
            <a:ext cx="25145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Model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531566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Powered by Groq (Qwen 27B) and LangChain.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8914" y="1575991"/>
            <a:ext cx="9647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8914" y="1936552"/>
            <a:ext cx="2514537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2083891"/>
            <a:ext cx="25145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Query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8914" y="2531566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Translates natural English into secure DuckDB SQL queries in real-time.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244" y="1575991"/>
            <a:ext cx="9775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48244" y="1936552"/>
            <a:ext cx="2514537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083891"/>
            <a:ext cx="25145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Visual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244" y="2531566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Dynamically renders Matplotlib charts (Bar, Line, Pie, Scatter) based on intent.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7573" y="1575991"/>
            <a:ext cx="97866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F6873"/>
                </a:solidFill>
                <a:latin typeface="Libre Franklin Light" pitchFamily="34" charset="0"/>
                <a:ea typeface="Libre Franklin Light" pitchFamily="34" charset="-122"/>
                <a:cs typeface="Libre Franklin Light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67573" y="1936552"/>
            <a:ext cx="2514537" cy="25400"/>
          </a:xfrm>
          <a:prstGeom prst="rect">
            <a:avLst/>
          </a:prstGeom>
          <a:solidFill>
            <a:srgbClr val="1F6A85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2083891"/>
            <a:ext cx="25145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71C2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Trust layer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67573" y="2531566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answer ships with a transparent SQL trace UI, so each query is fully auditable end to end.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872607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558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1C2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Layer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1C2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Component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1C2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Guarantee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Inference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Groq · Qwen 27B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Real-time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Orchestration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LangChain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Intent routing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Execution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DuckDB SQL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Secure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Audit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SQL trace UI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24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Fully auditable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1490732" y="6455370"/>
            <a:ext cx="70096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A424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2026-09-15T15:33:43Z</dcterms:created>
  <dcterms:modified xsi:type="dcterms:W3CDTF">2026-09-15T15:33:43Z</dcterms:modified>
</cp:coreProperties>
</file>